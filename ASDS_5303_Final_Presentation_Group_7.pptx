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8"/>
  </p:normalViewPr>
  <p:slideViewPr>
    <p:cSldViewPr snapToGrid="0" snapToObjects="1">
      <p:cViewPr varScale="1">
        <p:scale>
          <a:sx n="116" d="100"/>
          <a:sy n="116" d="100"/>
        </p:scale>
        <p:origin x="5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fontAlgn="base"/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Diabetes Prediction Using LDA, QDA, and PCA: A Comprehensive Statistical Analysis</a:t>
            </a: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 </a:t>
            </a:r>
            <a:endParaRPr lang="en-US" sz="2400" b="0" i="0" dirty="0">
              <a:solidFill>
                <a:schemeClr val="tx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/>
            </a:pPr>
            <a:r>
              <a:rPr b="1" dirty="0"/>
              <a:t>EARLY DETECTION OF DIABETES | ASDS 5303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/>
            </a:pPr>
            <a:r>
              <a:rPr b="1" dirty="0"/>
              <a:t>Group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/>
            </a:pPr>
            <a:r>
              <a:rPr lang="en-US" b="1" dirty="0"/>
              <a:t>Members</a:t>
            </a:r>
            <a:r>
              <a:rPr lang="en-US" dirty="0"/>
              <a:t>: </a:t>
            </a:r>
            <a:r>
              <a:rPr dirty="0"/>
              <a:t>Bikesh Adhikari • Mayanka Sharma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/>
            </a:pPr>
            <a:r>
              <a:rPr dirty="0"/>
              <a:t>Md Ahnaf Tajwar Kamal • </a:t>
            </a:r>
            <a:r>
              <a:rPr dirty="0" err="1"/>
              <a:t>Saminas</a:t>
            </a:r>
            <a:r>
              <a:rPr dirty="0"/>
              <a:t> Betel </a:t>
            </a:r>
            <a:r>
              <a:rPr dirty="0" err="1"/>
              <a:t>Kebebe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3749040"/>
            <a:ext cx="82296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/>
            </a:pPr>
            <a:r>
              <a:rPr b="1" dirty="0"/>
              <a:t>December 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0" b="1">
                <a:solidFill>
                  <a:srgbClr val="EF4444"/>
                </a:solidFill>
              </a:defRPr>
            </a:pPr>
            <a:r>
              <a:t>537 Million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rPr dirty="0"/>
              <a:t>People worldwide live with diabetes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05088"/>
                </a:solidFill>
              </a:defRPr>
            </a:pPr>
            <a:r>
              <a:t>But here's the problem: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rPr dirty="0"/>
              <a:t>Many cases go undetected until complications arise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Source: IDF Diabetes Atlas, 10th Edition (2021)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5088"/>
                </a:solidFill>
              </a:defRPr>
            </a:pPr>
            <a:r>
              <a:t>The Mission: Early Detection Saves Lives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5088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</a:defRPr>
            </a:pPr>
            <a:r>
              <a:t>Diabetes is a silent killer. By the time symptoms appear, irreversible damage may have occurred. Early detection through predictive modeling can change lives.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1CAA0"/>
                </a:solidFill>
              </a:defRPr>
            </a:pPr>
            <a:r>
              <a:t>Our 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4114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</a:defRPr>
            </a:pPr>
            <a:r>
              <a:t>Can we build a model that accurately identifies at-risk patients using simple, non-invasive measurements? We tested two powerful methods: LDA vs QDA.</a:t>
            </a:r>
          </a:p>
        </p:txBody>
      </p:sp>
      <p:pic>
        <p:nvPicPr>
          <p:cNvPr id="7" name="Picture 6" descr="diabetes_introdu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5088"/>
                </a:solidFill>
              </a:defRPr>
            </a:pPr>
            <a:r>
              <a:t>Our Data: The Pima Indians Diabetes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A real-world dataset with real-world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5603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05088"/>
                </a:solidFill>
              </a:defRPr>
            </a:pPr>
            <a:r>
              <a:t>768 Women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1521" y="1920240"/>
            <a:ext cx="23774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200"/>
              <a:t>Pima Indian heritage, aged 21+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538" y="2286000"/>
            <a:ext cx="23774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200" dirty="0"/>
              <a:t>Real patients, real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371600"/>
            <a:ext cx="25603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11CAA0"/>
                </a:solidFill>
              </a:defRPr>
            </a:pPr>
            <a:r>
              <a:t>8 Predictors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84127" y="1920240"/>
            <a:ext cx="23774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200" dirty="0"/>
              <a:t>Glucose, BMI, Insulin, Age, Blood Pressure, Pregnancies, Skin Thickness, Pedigree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5144" y="2715101"/>
            <a:ext cx="2560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200" dirty="0"/>
              <a:t>Simple, non-invasive measurements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371600"/>
            <a:ext cx="25603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EF4444"/>
                </a:solidFill>
              </a:defRPr>
            </a:pPr>
            <a:r>
              <a:t>Binary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0801" y="1920240"/>
            <a:ext cx="23774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200" dirty="0"/>
              <a:t>0 = No Diabetes = 1 = Diabetes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9784" y="2240280"/>
            <a:ext cx="23774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200" dirty="0"/>
              <a:t>Clear classification goal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5088"/>
                </a:solidFill>
              </a:defRPr>
            </a:pPr>
            <a:r>
              <a:t>First Red Flag: Class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Our first challenge revealed itself immediately</a:t>
            </a:r>
          </a:p>
        </p:txBody>
      </p:sp>
      <p:pic>
        <p:nvPicPr>
          <p:cNvPr id="4" name="Picture 3" descr="01_outcom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09060"/>
            <a:ext cx="4572000" cy="342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1706515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5088"/>
                </a:solidFill>
              </a:defRPr>
            </a:pPr>
            <a:r>
              <a:t>The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163715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</a:defRPr>
            </a:pPr>
            <a:r>
              <a:rPr dirty="0"/>
              <a:t>• No Diabetes: ~500 cases (65%)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483755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</a:defRPr>
            </a:pPr>
            <a:r>
              <a:t>• Diabetes: ~265 cases (35%)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986675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92400E"/>
                </a:solidFill>
              </a:defRPr>
            </a:pPr>
            <a:r>
              <a:t>Warning Sign: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3443875"/>
            <a:ext cx="3474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2400E"/>
                </a:solidFill>
              </a:defRPr>
            </a:pPr>
            <a:r>
              <a:t>A 2:1 imbalance means our model might favor the majority class. This will become critical later in our 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5088"/>
                </a:solidFill>
              </a:defRPr>
            </a:pPr>
            <a:r>
              <a:t>Preparing for Battle: Data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Before we could build models, we had to clean our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5088"/>
                </a:solidFill>
              </a:defRPr>
            </a:pPr>
            <a:r>
              <a:t>Step 1: Data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3566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</a:defRPr>
            </a:pPr>
            <a:r>
              <a:rPr dirty="0"/>
              <a:t>Replaced impossible zero values (e.g., 0 Glucose, 0 Blood Pressure) with NA and imputed using median values to preserve distribution characteristics.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35661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rPr sz="1000" dirty="0"/>
              <a:t>Quality data = reliable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CAA0"/>
                </a:solidFill>
              </a:defRPr>
            </a:pPr>
            <a:r>
              <a:t>Step 2: Train-Test 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737360"/>
            <a:ext cx="3566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</a:defRPr>
            </a:pPr>
            <a:r>
              <a:t>70% Training / 30% Testing split, stratified to maintain the original class distribution in both sets.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926080"/>
            <a:ext cx="35661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rPr sz="1000" dirty="0"/>
              <a:t>Fair evaluation requires fair splits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05088"/>
                </a:solidFill>
              </a:defRPr>
            </a:pPr>
            <a:r>
              <a:t>Data Visualization</a:t>
            </a:r>
          </a:p>
        </p:txBody>
      </p:sp>
      <p:pic>
        <p:nvPicPr>
          <p:cNvPr id="3" name="Picture 2" descr="04_scatter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640080"/>
            <a:ext cx="685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21808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Scatter Plots: Glucose vs BMI and Age vs Glucose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567927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5088"/>
                </a:solidFill>
              </a:defRPr>
            </a:pPr>
            <a:r>
              <a:t>Key Insights: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42247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• Glucose appears to be the strongest distinguishing factor (diabetes cases cluster at Glucose &gt; 120-130)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08007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• Higher BMI and Age show increased diabetes prevalence, but with significant overlap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73767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• No clear linear separation, suggesting non-linear boundaries may be needed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5088"/>
                </a:solidFill>
              </a:defRPr>
            </a:pPr>
            <a:r>
              <a:t>Correlation Analysis</a:t>
            </a:r>
          </a:p>
        </p:txBody>
      </p:sp>
      <p:pic>
        <p:nvPicPr>
          <p:cNvPr id="3" name="Picture 2" descr="03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11" y="734274"/>
            <a:ext cx="4913523" cy="49135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1268" y="607690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</a:defRPr>
            </a:pPr>
            <a:r>
              <a:rPr dirty="0"/>
              <a:t>Pairwise Correlation Matrix of Predictors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5088"/>
                </a:solidFill>
              </a:defRPr>
            </a:pPr>
            <a:r>
              <a:t>Key Correlations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5088"/>
                </a:solidFill>
              </a:defRPr>
            </a:pPr>
            <a:r>
              <a:t>Strong Correlations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39319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 dirty="0"/>
              <a:t>• Age &amp; Pregnancies (0.54): Strongest correlation; older women tend to have higher pregnancy counts.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9319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 dirty="0"/>
              <a:t>• BMI &amp; Skin Thickness (0.54): Expected physiological relationship - both measure body composition.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9319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 dirty="0"/>
              <a:t>• Glucose &amp; Insulin (0.42): Moderate positive correlation - insulin response to glucose levels.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5088"/>
                </a:solidFill>
              </a:defRPr>
            </a:pPr>
            <a:r>
              <a:t>Weak Correlations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39319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 dirty="0"/>
              <a:t>• Age &amp; Pregnancies (0.54): Strongest correlation; older women tend to have higher pregnancy counts.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39319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 dirty="0"/>
              <a:t>• BMI &amp; Skin Thickness (0.54): Expected physiological relationship - both measure body composition.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144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CAA0"/>
                </a:solidFill>
              </a:defRPr>
            </a:pPr>
            <a:r>
              <a:t>Implications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28016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 dirty="0"/>
              <a:t>No perfect multicollinearity: All correlations are moderate, suggesting each predictor contributes unique information. This supports the use of discriminant analysis methods.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92024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 dirty="0"/>
              <a:t>No single dominant predictor: The outcome cannot be predicted by a single variable, necessitating multivariate approaches like LDA/QDA.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5088"/>
                </a:solidFill>
              </a:defRPr>
            </a:pPr>
            <a:r>
              <a:t>Principal Component Analysis</a:t>
            </a:r>
          </a:p>
        </p:txBody>
      </p:sp>
      <p:pic>
        <p:nvPicPr>
          <p:cNvPr id="3" name="Picture 2" descr="06_pca_bi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5720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6177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PCA: First Two Principal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91440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1CAA0"/>
                </a:solidFill>
              </a:defRPr>
            </a:pPr>
            <a:r>
              <a:t>47.23% Variance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34747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 dirty="0"/>
              <a:t>First 2 components (PC1 + PC2) capture less than half of total variance.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96596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05088"/>
                </a:solidFill>
              </a:defRPr>
            </a:pPr>
            <a:r>
              <a:t>5 Components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331720"/>
            <a:ext cx="34747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 dirty="0"/>
              <a:t>Required to capture &gt;80% of the dataset's information.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301752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05088"/>
                </a:solidFill>
              </a:defRPr>
            </a:pPr>
            <a:r>
              <a:t>Key Observation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3383280"/>
            <a:ext cx="347472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</a:defRPr>
            </a:pPr>
            <a:r>
              <a:rPr sz="1000" dirty="0"/>
              <a:t>Heavy Overlap: The first two principal components show significant overlap between diabetes and no-diabetes groups, indicating that linear </a:t>
            </a:r>
            <a:r>
              <a:rPr sz="1000" dirty="0" err="1"/>
              <a:t>separati</a:t>
            </a:r>
            <a:r>
              <a:rPr sz="1000" dirty="0"/>
              <a:t>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5088"/>
                </a:solidFill>
              </a:defRPr>
            </a:pPr>
            <a:r>
              <a:t>The Moment of Truth: 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After rigorous testing, the results are in...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5088"/>
                </a:solidFill>
              </a:defRPr>
            </a:pPr>
            <a:r>
              <a:t>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18872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5088"/>
                </a:solidFill>
              </a:defRPr>
            </a:pPr>
            <a:r>
              <a:t>LDA (Linear)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18872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5088"/>
                </a:solidFill>
              </a:defRPr>
            </a:pPr>
            <a:r>
              <a:t>QDA (Quadratic)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55448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76.09%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55448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71.30%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Sensitivity (Healthy)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92024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86.67%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2024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82.00%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Specificity (Diabetic)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28600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56.25%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28600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51.25%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517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AUC (ROC)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65176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0.835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65176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0.806</a:t>
            </a:r>
          </a:p>
        </p:txBody>
      </p:sp>
      <p:pic>
        <p:nvPicPr>
          <p:cNvPr id="19" name="Picture 18" descr="12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6576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5088"/>
                </a:solidFill>
              </a:defRPr>
            </a:pPr>
            <a:r>
              <a:t>LDA vs QDA: Detailed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05088"/>
                </a:solidFill>
              </a:defRPr>
            </a:pPr>
            <a:r>
              <a:t>LDA (Linear Discriminant Analysis)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38404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rPr sz="1000"/>
              <a:t>Accuracy: 76.09%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38404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rPr sz="1000"/>
              <a:t>Sensitivity: 86.67%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38404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rPr sz="1000"/>
              <a:t>Specificity: 56.25%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38404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rPr sz="1000"/>
              <a:t>AUC-ROC: 0.835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38404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rPr sz="1000"/>
              <a:t>Precision: 0.71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38404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rPr sz="1000"/>
              <a:t>F1-Score: 0.78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37560"/>
            <a:ext cx="39319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34155"/>
                </a:solidFill>
              </a:defRPr>
            </a:pPr>
            <a:r>
              <a:rPr sz="1000" dirty="0"/>
              <a:t>Key Strength: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11880"/>
            <a:ext cx="39319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</a:defRPr>
            </a:pPr>
            <a:r>
              <a:rPr sz="1000" dirty="0"/>
              <a:t>More robust to class imbalance, better generalization.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91440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1CAA0"/>
                </a:solidFill>
              </a:defRPr>
            </a:pPr>
            <a:r>
              <a:t>QDA (Quadratic Discriminant Analysis)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325880"/>
            <a:ext cx="33832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 dirty="0"/>
              <a:t>Accuracy: 71.30%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1645920"/>
            <a:ext cx="33832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/>
              <a:t>Sensitivity: 82.00%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965960"/>
            <a:ext cx="33832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/>
              <a:t>Specificity: 51.25%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286000"/>
            <a:ext cx="33832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/>
              <a:t>AUC-ROC: 0.806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606040"/>
            <a:ext cx="33832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/>
              <a:t>Precision: 0.66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926080"/>
            <a:ext cx="33832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/>
              <a:t>F1-Score: 0.73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337560"/>
            <a:ext cx="34747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34155"/>
                </a:solidFill>
              </a:defRPr>
            </a:pPr>
            <a:r>
              <a:rPr sz="1000"/>
              <a:t>Limitation: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611880"/>
            <a:ext cx="34747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</a:defRPr>
            </a:pPr>
            <a:r>
              <a:rPr sz="1000"/>
              <a:t>Overfits on smaller class, less stable with imbalanced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03520"/>
            <a:ext cx="80467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</a:defRPr>
            </a:pPr>
            <a:r>
              <a:rPr sz="1000" dirty="0"/>
              <a:t>Winner: LDA - Despite theoretical preference for QDA (unequal covariance), LDA demonstrates superior performance with 4.79% higher accuracy and better stability on imbalanced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</a:defRPr>
            </a:pPr>
            <a:r>
              <a:t>The Critical Blind Spot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A sobering reality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3474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EF4444"/>
                </a:solidFill>
              </a:defRPr>
            </a:pPr>
            <a:r>
              <a:t>56%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Specificity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</a:defRPr>
            </a:pPr>
            <a:r>
              <a:t>Only 56% of diabetic cases correctly identified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280160"/>
            <a:ext cx="3474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EF4444"/>
                </a:solidFill>
              </a:defRPr>
            </a:pPr>
            <a:r>
              <a:t>44%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0574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Missed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37744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</a:defRPr>
            </a:pPr>
            <a:r>
              <a:t>44% of diabetic patients go undetected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34155"/>
                </a:solidFill>
              </a:defRPr>
            </a:pPr>
            <a:r>
              <a:t>Critical Issue: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77640"/>
            <a:ext cx="80467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 dirty="0"/>
              <a:t>The model is excellent at identifying healthy individuals (86.67% sensitivity), but struggles with positive cases due to class imbalance (65% No Diabetes vs 35% Diabetes). This is a significant limitation for clinical application where missing diabetic cases has serious consequences.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5088"/>
                </a:solidFill>
              </a:defRPr>
            </a:pPr>
            <a:r>
              <a:t>The Plot Twist: Theory vs.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Sometimes the data tells a different story than the textbooks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</a:defRPr>
            </a:pPr>
            <a:r>
              <a:rPr sz="1000" dirty="0"/>
              <a:t>Box's M Test: A statistical test that checks whether covariance matrices are equal across groups. H₀: Equal covariance (LDA assumption). H₁: Unequal covariance (QDA assumption).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What Theory Said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38404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 dirty="0"/>
              <a:t>• Box's M Test: p &lt; 0.05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01973"/>
            <a:ext cx="384048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 dirty="0"/>
              <a:t>• We rejected the null hypothesis of equal covariance. This means the covariance matrices differ significantly between diabetes and no-diabetes groups.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38404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/>
              <a:t>• Statistical theory clearly suggests QDA should win (since it allows different covariances).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38404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/>
              <a:t>• The textbooks were confident...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64592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What Data Revealed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2011680"/>
            <a:ext cx="33832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 dirty="0"/>
              <a:t>• LDA Won by 4.79%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423160"/>
            <a:ext cx="33832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/>
              <a:t>• Despite the violation, LDA was more robust. QDA likely overfitted the noise in the smaller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834640"/>
            <a:ext cx="33832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/>
              <a:t>• ...but reality had other plans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20640"/>
            <a:ext cx="80467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5088"/>
                </a:solidFill>
              </a:defRPr>
            </a:pPr>
            <a:r>
              <a:rPr sz="1000" dirty="0"/>
              <a:t>Key Insight: In real-world scenarios with imbalanced data, simpler models often outperform complex ones. Robustness beats theoretical perfection.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05088"/>
                </a:solidFill>
              </a:defRPr>
            </a:pPr>
            <a:r>
              <a:t>Interactive Dashboard: See It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Explore how class balance and SMOTE affect model performance in real-time</a:t>
            </a:r>
          </a:p>
        </p:txBody>
      </p:sp>
      <p:pic>
        <p:nvPicPr>
          <p:cNvPr id="4" name="Picture 3" descr="dashboard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4572000" cy="23132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364774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</a:defRPr>
            </a:pPr>
            <a:r>
              <a:rPr sz="900" dirty="0"/>
              <a:t>Live Dashboard: Adjust class distribution and SMOTE to see real model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00584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5088"/>
                </a:solidFill>
              </a:defRPr>
            </a:pPr>
            <a:r>
              <a:t>Interactive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325880"/>
            <a:ext cx="33832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</a:defRPr>
            </a:pPr>
            <a:r>
              <a:rPr sz="1000" dirty="0"/>
              <a:t>• Class Distribution Slider: Adjust from 40% to 70% to see how balance affects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1695607"/>
            <a:ext cx="33832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</a:defRPr>
            </a:pPr>
            <a:r>
              <a:rPr sz="1000"/>
              <a:t>• SMOTE Toggle: Enable/disable synthetic oversampling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911096"/>
            <a:ext cx="33832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</a:defRPr>
            </a:pPr>
            <a:r>
              <a:rPr sz="1000"/>
              <a:t>• Real-Time Updates: Metrics recalculate with actual R model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280823"/>
            <a:ext cx="33832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</a:defRPr>
            </a:pPr>
            <a:r>
              <a:rPr sz="1000" dirty="0"/>
              <a:t>• Live ROC Curves: Watch curves update as parameters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664871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5088"/>
                </a:solidFill>
              </a:defRPr>
            </a:pPr>
            <a:r>
              <a:rPr dirty="0"/>
              <a:t>What You Can Explore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907792"/>
            <a:ext cx="33832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</a:defRPr>
            </a:pPr>
            <a:r>
              <a:rPr sz="1000"/>
              <a:t>• Balanced Classes (50/50): See how specificity improves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3178366"/>
            <a:ext cx="33832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</a:defRPr>
            </a:pPr>
            <a:r>
              <a:rPr sz="1000" dirty="0"/>
              <a:t>• SMOTE Impact: Compare with/without synthetic oversampling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537076"/>
            <a:ext cx="33832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</a:defRPr>
            </a:pPr>
            <a:r>
              <a:rPr sz="1000"/>
              <a:t>• Model Comparison: Watch LDA vs QDA performance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3906803"/>
            <a:ext cx="33832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</a:defRPr>
            </a:pPr>
            <a:r>
              <a:rPr sz="1000" dirty="0"/>
              <a:t>• Tooltips: Hover over metrics for explanations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0"/>
            <a:ext cx="80467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5088"/>
                </a:solidFill>
              </a:defRPr>
            </a:pPr>
            <a:r>
              <a:rPr sz="1000"/>
              <a:t>Live Demo: Try the interactive dashboard yourself!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94960"/>
            <a:ext cx="80467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563EB"/>
                </a:solidFill>
              </a:defRPr>
            </a:pPr>
            <a:r>
              <a:rPr sz="1000" dirty="0"/>
              <a:t>https://asds-5303-final-project-presentatio.vercel.app/</a:t>
            </a:r>
            <a:r>
              <a:rPr sz="1000" dirty="0" err="1"/>
              <a:t>dashboard.html</a:t>
            </a:r>
            <a:endParaRPr sz="1000" dirty="0"/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80467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rPr sz="1000"/>
              <a:t>Adjust the slider and toggle SMOTE to see real-time model performance changes.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5088"/>
                </a:solidFill>
              </a:defRPr>
            </a:pPr>
            <a:r>
              <a:t>What We Learned: The Journey's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05088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38404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 dirty="0"/>
              <a:t>• LDA Wins: Despite theory favoring QDA, LDA achieved 76.09% accuracy with superior robustness. Sometimes simpler is better.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38404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/>
              <a:t>• Critical Gap: Missing 44% of diabetic cases is unacceptable. We must do better.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77440"/>
            <a:ext cx="38404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/>
              <a:t>• Root Cause: Class imbalance (65% vs 35%) is the villain in our story. This must be addressed.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91440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05088"/>
                </a:solidFill>
              </a:defRPr>
            </a:pPr>
            <a:r>
              <a:t>The Path Forward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1280160"/>
            <a:ext cx="33832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/>
              <a:t>• SMOTE: Balance the classes to give diabetes cases a fair chance.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737360"/>
            <a:ext cx="33832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/>
              <a:t>• Cost-Sensitive Learning: Prioritize catching diabetic cases—missing them costs more than false alarms.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194560"/>
            <a:ext cx="33832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/>
              <a:t>• Ensemble Methods: Combine LDA with Random Forest, SVM for a stronger team.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2651760"/>
            <a:ext cx="33832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rPr sz="1000"/>
              <a:t>• Feature Engineering: Uncover hidden patterns through interaction terms.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54880"/>
            <a:ext cx="80467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5088"/>
                </a:solidFill>
              </a:defRPr>
            </a:pPr>
            <a:r>
              <a:rPr sz="1000"/>
              <a:t>The Bottom Line: We have a good start, but we're not ready for clinical deployment yet.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66360"/>
            <a:ext cx="80467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</a:defRPr>
            </a:pPr>
            <a:r>
              <a:rPr sz="1000"/>
              <a:t>Our Promise: We'll continue improving until we can confidently detect diabetes early.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7589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References: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75895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E0F2FE"/>
                </a:solidFill>
              </a:defRPr>
            </a:pPr>
            <a:r>
              <a:rPr sz="1000" dirty="0"/>
              <a:t>1. International Diabetes Federation. (2021). IDF Diabetes Atlas, 10th Edition. Brussels, Belgium: International Diabetes Federation.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06040"/>
            <a:ext cx="75895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E0F2FE"/>
                </a:solidFill>
              </a:defRPr>
            </a:pPr>
            <a:r>
              <a:rPr sz="1000"/>
              <a:t>2. National Institute of Diabetes and Digestive and Kidney Diseases. Pima Indians Diabetes Database. UCI Machine Learning Repository.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17520"/>
            <a:ext cx="75895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E0F2FE"/>
                </a:solidFill>
              </a:defRPr>
            </a:pPr>
            <a:r>
              <a:rPr sz="1000"/>
              <a:t>3. James, G., Witten, D., Hastie, T., &amp; Tibshirani, R. (2013). An Introduction to Statistical Learning: with Applications in R. New York: Springer.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29000"/>
            <a:ext cx="75895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E0F2FE"/>
                </a:solidFill>
              </a:defRPr>
            </a:pPr>
            <a:r>
              <a:rPr sz="1000"/>
              <a:t>4. Venables, W. N., &amp; Ripley, B. D. (2002). Modern Applied Statistics with S (4th ed.). New York: Springer.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0"/>
            <a:ext cx="75895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E0F2FE"/>
                </a:solidFill>
              </a:defRPr>
            </a:pPr>
            <a:r>
              <a:rPr sz="1000"/>
              <a:t>5. American Diabetes Association. (2023). Standards of Care in Diabetes—2023. Diabetes Care, 46(Supplement 1), S1-S291.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51960"/>
            <a:ext cx="75895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E0F2FE"/>
                </a:solidFill>
              </a:defRPr>
            </a:pPr>
            <a:r>
              <a:rPr sz="1000"/>
              <a:t>6. Chawla, N. V., Bowyer, K. W., Hall, L. O., &amp; Kegelmeyer, W. P. (2002). SMOTE: Synthetic Minority Over-sampling Technique. Journal of Artificial Intelligence Research, 16, 321-357.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1551</Words>
  <Application>Microsoft Macintosh PowerPoint</Application>
  <PresentationFormat>On-screen Show (4:3)</PresentationFormat>
  <Paragraphs>165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Sharma, Mayanka</cp:lastModifiedBy>
  <cp:revision>8</cp:revision>
  <dcterms:created xsi:type="dcterms:W3CDTF">2013-01-27T09:14:16Z</dcterms:created>
  <dcterms:modified xsi:type="dcterms:W3CDTF">2025-12-05T04:01:23Z</dcterms:modified>
  <cp:category/>
</cp:coreProperties>
</file>